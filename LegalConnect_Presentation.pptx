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1980000"/>
            <a:ext cx="1440000" cy="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2160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LegalConnect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3384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CCCCC"/>
                </a:solidFill>
                <a:latin typeface="Calibri"/>
              </a:rPr>
              <a:t>Azərbaycanda Hüquqi Xidmətlər Platforması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5832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Calibri"/>
              </a:rPr>
              <a:t>Diplom İşi  •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6192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Bakhtiyar Shirinov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" y="324000"/>
            <a:ext cx="125999" cy="396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306000"/>
            <a:ext cx="108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A0A0A"/>
                </a:solidFill>
                <a:latin typeface="Calibri"/>
              </a:rPr>
              <a:t>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260000"/>
            <a:ext cx="6300000" cy="64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000" y="1385999"/>
            <a:ext cx="61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A0A0A"/>
                </a:solidFill>
                <a:latin typeface="Calibri"/>
              </a:rPr>
              <a:t>❌  Azərbaycanda vəkil tapmaq çətindir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2052000"/>
            <a:ext cx="6300000" cy="64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000" y="2177999"/>
            <a:ext cx="61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A0A0A"/>
                </a:solidFill>
                <a:latin typeface="Calibri"/>
              </a:rPr>
              <a:t>❌  Şəffaf qiymət siyasəti yoxdur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844000"/>
            <a:ext cx="6300000" cy="64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000" y="2969999"/>
            <a:ext cx="61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A0A0A"/>
                </a:solidFill>
                <a:latin typeface="Calibri"/>
              </a:rPr>
              <a:t>❌  Görüş planlaması vaxt aparır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60000" y="1260000"/>
            <a:ext cx="3960000" cy="3240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0000" y="1440000"/>
            <a:ext cx="396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FFFFFF"/>
                </a:solidFill>
                <a:latin typeface="Calibri"/>
              </a:rPr>
              <a:t>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0000" y="3060000"/>
            <a:ext cx="396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CCCC"/>
                </a:solidFill>
                <a:latin typeface="Calibri"/>
              </a:rPr>
              <a:t>azərbaycanlıların
hüquqi yardıma
ehtiyacı var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" y="324000"/>
            <a:ext cx="125999" cy="396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306000"/>
            <a:ext cx="108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A0A0A"/>
                </a:solidFill>
                <a:latin typeface="Calibri"/>
              </a:rPr>
              <a:t>Həll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0000" y="2700000"/>
            <a:ext cx="54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A0A0A"/>
                </a:solidFill>
                <a:latin typeface="Calibri"/>
              </a:rPr>
              <a:t>LegalConnect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260000"/>
            <a:ext cx="4500000" cy="792000"/>
          </a:xfrm>
          <a:prstGeom prst="rect">
            <a:avLst/>
          </a:prstGeom>
          <a:solidFill>
            <a:srgbClr val="F5F5F5"/>
          </a:solidFill>
          <a:ln w="1524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8000" y="1332000"/>
            <a:ext cx="428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A0A0A"/>
                </a:solidFill>
                <a:latin typeface="Calibri"/>
              </a:rPr>
              <a:t>🔍  Vəkil Axtarışı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8000" y="1260000"/>
            <a:ext cx="4500000" cy="792000"/>
          </a:xfrm>
          <a:prstGeom prst="rect">
            <a:avLst/>
          </a:prstGeom>
          <a:solidFill>
            <a:srgbClr val="F5F5F5"/>
          </a:solidFill>
          <a:ln w="1524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76000" y="1332000"/>
            <a:ext cx="428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A0A0A"/>
                </a:solidFill>
                <a:latin typeface="Calibri"/>
              </a:rPr>
              <a:t>📅  Onlayn Görüş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4320000"/>
            <a:ext cx="4500000" cy="792000"/>
          </a:xfrm>
          <a:prstGeom prst="rect">
            <a:avLst/>
          </a:prstGeom>
          <a:solidFill>
            <a:srgbClr val="F5F5F5"/>
          </a:solidFill>
          <a:ln w="1524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000" y="4392000"/>
            <a:ext cx="428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A0A0A"/>
                </a:solidFill>
                <a:latin typeface="Calibri"/>
              </a:rPr>
              <a:t>💬  Real-time Söhbət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8000" y="4320000"/>
            <a:ext cx="4500000" cy="792000"/>
          </a:xfrm>
          <a:prstGeom prst="rect">
            <a:avLst/>
          </a:prstGeom>
          <a:solidFill>
            <a:srgbClr val="F5F5F5"/>
          </a:solidFill>
          <a:ln w="1524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000" y="4392000"/>
            <a:ext cx="428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A0A0A"/>
                </a:solidFill>
                <a:latin typeface="Calibri"/>
              </a:rPr>
              <a:t>📹  Video Zəng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60000" y="3060000"/>
            <a:ext cx="2340000" cy="21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60000" y="3600000"/>
            <a:ext cx="2340000" cy="21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0000" y="1980000"/>
            <a:ext cx="21600" cy="252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" y="324000"/>
            <a:ext cx="125999" cy="396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306000"/>
            <a:ext cx="108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A0A0A"/>
                </a:solidFill>
                <a:latin typeface="Calibri"/>
              </a:rPr>
              <a:t>Texnologiyalar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80000"/>
            <a:ext cx="5220000" cy="324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080000"/>
            <a:ext cx="52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404000"/>
            <a:ext cx="5220000" cy="3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000" y="1422000"/>
            <a:ext cx="50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A0A0A"/>
                </a:solidFill>
                <a:latin typeface="Calibri"/>
              </a:rPr>
              <a:t>.NET 9  •  Clean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1800000"/>
            <a:ext cx="5220000" cy="36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000" y="1818000"/>
            <a:ext cx="50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A0A0A"/>
                </a:solidFill>
                <a:latin typeface="Calibri"/>
              </a:rPr>
              <a:t>CQRS + MediatR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196000"/>
            <a:ext cx="5220000" cy="3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000" y="2214000"/>
            <a:ext cx="50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A0A0A"/>
                </a:solidFill>
                <a:latin typeface="Calibri"/>
              </a:rPr>
              <a:t>PostgreSQL + EF Core 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2592000"/>
            <a:ext cx="5220000" cy="36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000" y="2610000"/>
            <a:ext cx="50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A0A0A"/>
                </a:solidFill>
                <a:latin typeface="Calibri"/>
              </a:rPr>
              <a:t>SignalR  •  JWT Auth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2988000"/>
            <a:ext cx="5220000" cy="3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000" y="3006000"/>
            <a:ext cx="50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A0A0A"/>
                </a:solidFill>
                <a:latin typeface="Calibri"/>
              </a:rPr>
              <a:t>MailKit (Gmail SMTP)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0000" y="1080000"/>
            <a:ext cx="5400000" cy="324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000" y="1080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Frontend / Mobile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0000" y="1404000"/>
            <a:ext cx="5400000" cy="3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0000" y="1422000"/>
            <a:ext cx="52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A0A0A"/>
                </a:solidFill>
                <a:latin typeface="Calibri"/>
              </a:rPr>
              <a:t>React 19 + TypeScript + Vite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0000" y="1800000"/>
            <a:ext cx="5400000" cy="36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0000" y="1818000"/>
            <a:ext cx="52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A0A0A"/>
                </a:solidFill>
                <a:latin typeface="Calibri"/>
              </a:rPr>
              <a:t>React Native + Expo SDK 56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0000" y="2196000"/>
            <a:ext cx="5400000" cy="3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0000" y="2214000"/>
            <a:ext cx="52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A0A0A"/>
                </a:solidFill>
                <a:latin typeface="Calibri"/>
              </a:rPr>
              <a:t>Zustand + React Query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0000" y="2592000"/>
            <a:ext cx="5400000" cy="36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0000" y="2610000"/>
            <a:ext cx="52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A0A0A"/>
                </a:solidFill>
                <a:latin typeface="Calibri"/>
              </a:rPr>
              <a:t>Framer Motion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0000" y="2988000"/>
            <a:ext cx="5400000" cy="3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80000" y="3006000"/>
            <a:ext cx="52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A0A0A"/>
                </a:solidFill>
                <a:latin typeface="Calibri"/>
              </a:rPr>
              <a:t>Daily.co API (Video)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" y="324000"/>
            <a:ext cx="125999" cy="396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306000"/>
            <a:ext cx="108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A0A0A"/>
                </a:solidFill>
                <a:latin typeface="Calibri"/>
              </a:rPr>
              <a:t>Arxitektura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0000" y="1152000"/>
            <a:ext cx="9540000" cy="720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68000" y="1188000"/>
            <a:ext cx="43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API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68000" y="1476000"/>
            <a:ext cx="93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Calibri"/>
              </a:rPr>
              <a:t>Controllers • Middleware • Program.cs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32000" y="1872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Calibri"/>
              </a:rPr>
              <a:t>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260000" y="2088000"/>
            <a:ext cx="9540000" cy="720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68000" y="2124000"/>
            <a:ext cx="43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Application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68000" y="2412000"/>
            <a:ext cx="93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Calibri"/>
              </a:rPr>
              <a:t>CQRS Handlers • DTOs • Validators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32000" y="280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Calibri"/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60000" y="3024000"/>
            <a:ext cx="9540000" cy="72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68000" y="3060000"/>
            <a:ext cx="43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Domain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8000" y="3348000"/>
            <a:ext cx="93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Calibri"/>
              </a:rPr>
              <a:t>Entities • Interfaces • Business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32000" y="3744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Calibri"/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60000" y="3960000"/>
            <a:ext cx="9540000" cy="720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68000" y="3996000"/>
            <a:ext cx="43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Infrastructure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68000" y="4284000"/>
            <a:ext cx="93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Calibri"/>
              </a:rPr>
              <a:t>EF Core • Repositories • SignalR 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0000" y="5580000"/>
            <a:ext cx="9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6B6B"/>
                </a:solidFill>
                <a:latin typeface="Calibri"/>
              </a:rPr>
              <a:t>Clean Architecture  •  SOLID Prinsipləri  •  Dependency Inversion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" y="324000"/>
            <a:ext cx="125999" cy="396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306000"/>
            <a:ext cx="108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A0A0A"/>
                </a:solidFill>
                <a:latin typeface="Calibri"/>
              </a:rPr>
              <a:t>Funksionallıq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44000"/>
            <a:ext cx="3671999" cy="324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044000"/>
            <a:ext cx="3671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Müştəri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368000"/>
            <a:ext cx="3671999" cy="34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00" y="1386000"/>
            <a:ext cx="3491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Calibri"/>
              </a:rPr>
              <a:t>✓ Qeydiyyat + OTP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1728000"/>
            <a:ext cx="3671999" cy="34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746000"/>
            <a:ext cx="3491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Calibri"/>
              </a:rPr>
              <a:t>✓ Vəkil axtarışı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088000"/>
            <a:ext cx="3671999" cy="34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00" y="2106000"/>
            <a:ext cx="3491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Calibri"/>
              </a:rPr>
              <a:t>✓ Görüş planla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2448000"/>
            <a:ext cx="3671999" cy="34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00" y="2466000"/>
            <a:ext cx="3491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Calibri"/>
              </a:rPr>
              <a:t>✓ Real-time söhbət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2808000"/>
            <a:ext cx="3671999" cy="34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00" y="2826000"/>
            <a:ext cx="3491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Calibri"/>
              </a:rPr>
              <a:t>✓ Video görüş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3168000"/>
            <a:ext cx="3671999" cy="34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00" y="3186000"/>
            <a:ext cx="3491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Calibri"/>
              </a:rPr>
              <a:t>✓ Rəy sistemi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3528000"/>
            <a:ext cx="3671999" cy="34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00" y="3546000"/>
            <a:ext cx="3491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Calibri"/>
              </a:rPr>
              <a:t>✓ Bildirişlər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28000" y="1044000"/>
            <a:ext cx="3671999" cy="324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28000" y="1044000"/>
            <a:ext cx="3671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Vəkil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28000" y="1368000"/>
            <a:ext cx="3671999" cy="34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1386000"/>
            <a:ext cx="3491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Calibri"/>
              </a:rPr>
              <a:t>✓ Profil idarəetməsi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28000" y="1728000"/>
            <a:ext cx="3671999" cy="34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1746000"/>
            <a:ext cx="3491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Calibri"/>
              </a:rPr>
              <a:t>✓ Slot yaratma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28000" y="2088000"/>
            <a:ext cx="3671999" cy="34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2106000"/>
            <a:ext cx="3491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Calibri"/>
              </a:rPr>
              <a:t>✓ Görüş təsdiqi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28000" y="2448000"/>
            <a:ext cx="3671999" cy="34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2466000"/>
            <a:ext cx="3491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Calibri"/>
              </a:rPr>
              <a:t>✓ Statistikalar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28000" y="2808000"/>
            <a:ext cx="3671999" cy="34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2826000"/>
            <a:ext cx="3491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Calibri"/>
              </a:rPr>
              <a:t>✓ Real-time söhbət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28000" y="3168000"/>
            <a:ext cx="3671999" cy="34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3186000"/>
            <a:ext cx="3491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Calibri"/>
              </a:rPr>
              <a:t>✓ Video görüş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24000" y="1044000"/>
            <a:ext cx="3671999" cy="324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24000" y="1044000"/>
            <a:ext cx="3671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24000" y="1368000"/>
            <a:ext cx="3671999" cy="34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68000" y="1386000"/>
            <a:ext cx="3491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Calibri"/>
              </a:rPr>
              <a:t>✓ Vəkil təsdiqi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24000" y="1728000"/>
            <a:ext cx="3671999" cy="34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68000" y="1746000"/>
            <a:ext cx="3491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Calibri"/>
              </a:rPr>
              <a:t>✓ İstifadəçilər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24000" y="2088000"/>
            <a:ext cx="3671999" cy="34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68000" y="2106000"/>
            <a:ext cx="3491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Calibri"/>
              </a:rPr>
              <a:t>✓ Statistika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" y="324000"/>
            <a:ext cx="125999" cy="396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306000"/>
            <a:ext cx="108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A0A0A"/>
                </a:solidFill>
                <a:latin typeface="Calibri"/>
              </a:rPr>
              <a:t>Müştəri Portalı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152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0A0A"/>
                </a:solidFill>
                <a:latin typeface="Calibri"/>
              </a:rPr>
              <a:t>✓  Vəkil axtarışı və filtrlər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800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0A0A"/>
                </a:solidFill>
                <a:latin typeface="Calibri"/>
              </a:rPr>
              <a:t>✓  Slot əsaslı görüş planlaması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2448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0A0A"/>
                </a:solidFill>
                <a:latin typeface="Calibri"/>
              </a:rPr>
              <a:t>✓  Real-time söhbət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3096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0A0A"/>
                </a:solidFill>
                <a:latin typeface="Calibri"/>
              </a:rPr>
              <a:t>✓  Bildirişlər sistemi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3744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0A0A"/>
                </a:solidFill>
                <a:latin typeface="Calibri"/>
              </a:rPr>
              <a:t>✓  Rəy sistemi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4392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0A0A"/>
                </a:solidFill>
                <a:latin typeface="Calibri"/>
              </a:rPr>
              <a:t>✓  Profil idarəetməsi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5040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0A0A"/>
                </a:solidFill>
                <a:latin typeface="Calibri"/>
              </a:rPr>
              <a:t>✓  Çoxdilli (AZ/EN/RU)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007999"/>
            <a:ext cx="5220000" cy="486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000" y="3293999"/>
            <a:ext cx="52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B"/>
                </a:solidFill>
                <a:latin typeface="Calibri"/>
              </a:rPr>
              <a:t>[Screenshot]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" y="324000"/>
            <a:ext cx="125999" cy="396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306000"/>
            <a:ext cx="108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A0A0A"/>
                </a:solidFill>
                <a:latin typeface="Calibri"/>
              </a:rPr>
              <a:t>Vəkil Portalı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152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0A0A"/>
                </a:solidFill>
                <a:latin typeface="Calibri"/>
              </a:rPr>
              <a:t>✓  Profil idarəetməsi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800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0A0A"/>
                </a:solidFill>
                <a:latin typeface="Calibri"/>
              </a:rPr>
              <a:t>✓  Slot yaratma (cədvəl)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2448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0A0A"/>
                </a:solidFill>
                <a:latin typeface="Calibri"/>
              </a:rPr>
              <a:t>✓  Görüş təsdiqi / ləğvi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3096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0A0A"/>
                </a:solidFill>
                <a:latin typeface="Calibri"/>
              </a:rPr>
              <a:t>✓  Müştəri söhbəti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3744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0A0A"/>
                </a:solidFill>
                <a:latin typeface="Calibri"/>
              </a:rPr>
              <a:t>✓  Statistikalar paneli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4392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0A0A"/>
                </a:solidFill>
                <a:latin typeface="Calibri"/>
              </a:rPr>
              <a:t>✓  Avatar yükləmə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5040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0A0A"/>
                </a:solidFill>
                <a:latin typeface="Calibri"/>
              </a:rPr>
              <a:t>✓  Çoxdilli (AZ/EN/RU)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007999"/>
            <a:ext cx="5220000" cy="486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000" y="3293999"/>
            <a:ext cx="52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B"/>
                </a:solidFill>
                <a:latin typeface="Calibri"/>
              </a:rPr>
              <a:t>[Screenshot]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" y="324000"/>
            <a:ext cx="125999" cy="396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306000"/>
            <a:ext cx="108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A0A0A"/>
                </a:solidFill>
                <a:latin typeface="Calibri"/>
              </a:rPr>
              <a:t>Admin Paneli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152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0A0A"/>
                </a:solidFill>
                <a:latin typeface="Calibri"/>
              </a:rPr>
              <a:t>✓  Vəkil profilinin təsdiqi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800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0A0A"/>
                </a:solidFill>
                <a:latin typeface="Calibri"/>
              </a:rPr>
              <a:t>✓  İstifadəçi idarəetməsi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2448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0A0A"/>
                </a:solidFill>
                <a:latin typeface="Calibri"/>
              </a:rPr>
              <a:t>✓  Platforma statistikası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3096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0A0A"/>
                </a:solidFill>
                <a:latin typeface="Calibri"/>
              </a:rPr>
              <a:t>✓  Gözlənilən vəkillər siyahısı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0000" y="1007999"/>
            <a:ext cx="5220000" cy="486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0" y="3293999"/>
            <a:ext cx="52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B"/>
                </a:solidFill>
                <a:latin typeface="Calibri"/>
              </a:rPr>
              <a:t>[Screenshot]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" y="324000"/>
            <a:ext cx="125999" cy="396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306000"/>
            <a:ext cx="108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A0A0A"/>
                </a:solidFill>
                <a:latin typeface="Calibri"/>
              </a:rPr>
              <a:t>Mobil Tətbiq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900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B6B6B"/>
                </a:solidFill>
                <a:latin typeface="Calibri"/>
              </a:rPr>
              <a:t>React Native + Expo SDK 56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260000"/>
            <a:ext cx="3600000" cy="198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1332000"/>
            <a:ext cx="3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A0A"/>
                </a:solidFill>
                <a:latin typeface="Calibri"/>
              </a:rPr>
              <a:t>📱
iOS / Android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2124000"/>
            <a:ext cx="36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6B6B"/>
                </a:solidFill>
                <a:latin typeface="Calibri"/>
              </a:rPr>
              <a:t>Expo Go ilə
test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0" y="1260000"/>
            <a:ext cx="3600000" cy="198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0" y="1332000"/>
            <a:ext cx="3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A0A"/>
                </a:solidFill>
                <a:latin typeface="Calibri"/>
              </a:rPr>
              <a:t>👤
Role-based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0" y="2124000"/>
            <a:ext cx="36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6B6B"/>
                </a:solidFill>
                <a:latin typeface="Calibri"/>
              </a:rPr>
              <a:t>Müştəri + Vəkil
ayrı interfeys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8000" y="1260000"/>
            <a:ext cx="3600000" cy="198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8000" y="1332000"/>
            <a:ext cx="3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A0A"/>
                </a:solidFill>
                <a:latin typeface="Calibri"/>
              </a:rPr>
              <a:t>🌐
Çoxdilli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8000" y="2124000"/>
            <a:ext cx="36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6B6B"/>
                </a:solidFill>
                <a:latin typeface="Calibri"/>
              </a:rPr>
              <a:t>AZ / EN / RU
dəstəyi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3528000"/>
            <a:ext cx="5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Calibri"/>
              </a:rPr>
              <a:t>✓  Müştəri və Vəkil interfeysi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4068000"/>
            <a:ext cx="5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Calibri"/>
              </a:rPr>
              <a:t>✓  Görüş rezerv etmək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" y="4608000"/>
            <a:ext cx="5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Calibri"/>
              </a:rPr>
              <a:t>✓  Vəkil axtarışı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2000" y="3528000"/>
            <a:ext cx="5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Calibri"/>
              </a:rPr>
              <a:t>✓  Slot seçmə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2000" y="4068000"/>
            <a:ext cx="5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Calibri"/>
              </a:rPr>
              <a:t>✓  Çat sistemi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2000" y="4608000"/>
            <a:ext cx="5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Calibri"/>
              </a:rPr>
              <a:t>✓  Azərbaycan dili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" y="324000"/>
            <a:ext cx="125999" cy="396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306000"/>
            <a:ext cx="108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A0A0A"/>
                </a:solidFill>
                <a:latin typeface="Calibri"/>
              </a:rPr>
              <a:t>Real-time Söhbət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900000"/>
            <a:ext cx="90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B6B6B"/>
                </a:solidFill>
                <a:latin typeface="Calibri"/>
              </a:rPr>
              <a:t>Microsoft SignalR + WebSocket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1260000"/>
            <a:ext cx="2700000" cy="64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1368000"/>
            <a:ext cx="27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A"/>
                </a:solidFill>
                <a:latin typeface="Calibri"/>
              </a:rPr>
              <a:t>Müştəri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0" y="1404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A0A0A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780000" y="1260000"/>
            <a:ext cx="2700000" cy="64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80000" y="1368000"/>
            <a:ext cx="27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SignalR 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0" y="1404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A0A0A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40000" y="1260000"/>
            <a:ext cx="2700000" cy="64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40000" y="1368000"/>
            <a:ext cx="27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A"/>
                </a:solidFill>
                <a:latin typeface="Calibri"/>
              </a:rPr>
              <a:t>Vəkil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2340000"/>
            <a:ext cx="5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A0A0A"/>
                </a:solidFill>
                <a:latin typeface="Calibri"/>
              </a:rPr>
              <a:t>✓  Anlıq mesajlaşma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2916000"/>
            <a:ext cx="5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A0A0A"/>
                </a:solidFill>
                <a:latin typeface="Calibri"/>
              </a:rPr>
              <a:t>✓  Fayl və şəkil göndərmə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3492000"/>
            <a:ext cx="5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A0A0A"/>
                </a:solidFill>
                <a:latin typeface="Calibri"/>
              </a:rPr>
              <a:t>✓  Oxunmamış mesaj sayacı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2000" y="2340000"/>
            <a:ext cx="5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A0A0A"/>
                </a:solidFill>
                <a:latin typeface="Calibri"/>
              </a:rPr>
              <a:t>✓  Görüş təsdiqindən sonra aktivləşir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2000" y="2916000"/>
            <a:ext cx="5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A0A0A"/>
                </a:solidFill>
                <a:latin typeface="Calibri"/>
              </a:rPr>
              <a:t>✓  Çat axtarışı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2000" y="3492000"/>
            <a:ext cx="5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A0A0A"/>
                </a:solidFill>
                <a:latin typeface="Calibri"/>
              </a:rPr>
              <a:t>✓  Onlayn / oflayn status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" y="324000"/>
            <a:ext cx="125999" cy="396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306000"/>
            <a:ext cx="108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A0A0A"/>
                </a:solidFill>
                <a:latin typeface="Calibri"/>
              </a:rPr>
              <a:t>Video Görüş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900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B6B6B"/>
                </a:solidFill>
                <a:latin typeface="Calibri"/>
              </a:rPr>
              <a:t>Daily.co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260000"/>
            <a:ext cx="2592000" cy="792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1296000"/>
            <a:ext cx="259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Görüş
təsdiqlənir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24000" y="1404000"/>
            <a:ext cx="3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A0A0A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2000" y="1260000"/>
            <a:ext cx="2592000" cy="792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2000" y="1296000"/>
            <a:ext cx="259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Otaq
yaradılır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4000" y="1404000"/>
            <a:ext cx="3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A0A0A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2000" y="1260000"/>
            <a:ext cx="2592000" cy="792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2000" y="1296000"/>
            <a:ext cx="259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Email
göndərilir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84000" y="1404000"/>
            <a:ext cx="3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A0A0A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72000" y="1260000"/>
            <a:ext cx="2592000" cy="792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2000" y="1296000"/>
            <a:ext cx="259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Görüşə
qoşulur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" y="2448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A0A0A"/>
                </a:solidFill>
                <a:latin typeface="Calibri"/>
              </a:rPr>
              <a:t>✓  Avtomatik otaq yaradılması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000" y="3024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A0A0A"/>
                </a:solidFill>
                <a:latin typeface="Calibri"/>
              </a:rPr>
              <a:t>✓  Email bildirişi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000" y="360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A0A0A"/>
                </a:solidFill>
                <a:latin typeface="Calibri"/>
              </a:rPr>
              <a:t>✓  Müştəri və vəkilə link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4176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A0A0A"/>
                </a:solidFill>
                <a:latin typeface="Calibri"/>
              </a:rPr>
              <a:t>✓  Görüş öncəsi 24 saat aktivləşir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" y="4752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A0A0A"/>
                </a:solidFill>
                <a:latin typeface="Calibri"/>
              </a:rPr>
              <a:t>✓  Mobil dəstəyi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" y="324000"/>
            <a:ext cx="125999" cy="396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306000"/>
            <a:ext cx="108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A0A0A"/>
                </a:solidFill>
                <a:latin typeface="Calibri"/>
              </a:rPr>
              <a:t>Təhlükəsizlik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152000"/>
            <a:ext cx="2700000" cy="270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260000"/>
            <a:ext cx="27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A0A0A"/>
                </a:solidFill>
                <a:latin typeface="Calibri"/>
              </a:rPr>
              <a:t>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1872000"/>
            <a:ext cx="27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0A0A"/>
                </a:solidFill>
                <a:latin typeface="Calibri"/>
              </a:rPr>
              <a:t>JWT Token 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2340000"/>
            <a:ext cx="27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6B6B"/>
                </a:solidFill>
                <a:latin typeface="Calibri"/>
              </a:rPr>
              <a:t>Bütün API endpoint
qorunur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2000" y="1152000"/>
            <a:ext cx="2700000" cy="270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2000" y="1260000"/>
            <a:ext cx="27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A0A0A"/>
                </a:solidFill>
                <a:latin typeface="Calibri"/>
              </a:rPr>
              <a:t>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2000" y="1872000"/>
            <a:ext cx="27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0A0A"/>
                </a:solidFill>
                <a:latin typeface="Calibri"/>
              </a:rPr>
              <a:t>Email OTP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2000" y="2340000"/>
            <a:ext cx="27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6B6B"/>
                </a:solidFill>
                <a:latin typeface="Calibri"/>
              </a:rPr>
              <a:t>Qeydiyyatda
e-poçt doğrulaması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2000" y="1152000"/>
            <a:ext cx="2700000" cy="270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2000" y="1260000"/>
            <a:ext cx="27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A0A0A"/>
                </a:solidFill>
                <a:latin typeface="Calibri"/>
              </a:rPr>
              <a:t>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2000" y="1872000"/>
            <a:ext cx="27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0A0A"/>
                </a:solidFill>
                <a:latin typeface="Calibri"/>
              </a:rPr>
              <a:t>BCrypt Passwords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2000" y="2340000"/>
            <a:ext cx="27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6B6B"/>
                </a:solidFill>
                <a:latin typeface="Calibri"/>
              </a:rPr>
              <a:t>Şifrələr hash
kimi saxlanır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72000" y="1152000"/>
            <a:ext cx="2700000" cy="270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72000" y="1260000"/>
            <a:ext cx="27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A0A0A"/>
                </a:solidFill>
                <a:latin typeface="Calibri"/>
              </a:rPr>
              <a:t>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000" y="1872000"/>
            <a:ext cx="27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0A0A"/>
                </a:solidFill>
                <a:latin typeface="Calibri"/>
              </a:rPr>
              <a:t>Role-based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2000" y="2340000"/>
            <a:ext cx="27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6B6B"/>
                </a:solidFill>
                <a:latin typeface="Calibri"/>
              </a:rPr>
              <a:t>Admin / Vəkil /
Müştəri icazələri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" y="5688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6B6B"/>
                </a:solidFill>
                <a:latin typeface="Calibri"/>
              </a:rPr>
              <a:t>Clean Architecture ilə təbəqəli müdafiə  •  HTTPS  •  Input Validation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" y="324000"/>
            <a:ext cx="125999" cy="396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306000"/>
            <a:ext cx="108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A0A0A"/>
                </a:solidFill>
                <a:latin typeface="Calibri"/>
              </a:rPr>
              <a:t>Verilənlər Bazası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900000"/>
            <a:ext cx="10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B6B6B"/>
                </a:solidFill>
                <a:latin typeface="Calibri"/>
              </a:rPr>
              <a:t>PostgreSQL 16  +  Entity Framework Core 9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224000"/>
            <a:ext cx="5400000" cy="28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1224000"/>
            <a:ext cx="54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Cədvəllər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12000"/>
            <a:ext cx="5400000" cy="3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00" y="1530000"/>
            <a:ext cx="52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Calibri"/>
              </a:rPr>
              <a:t>users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890000"/>
            <a:ext cx="5400000" cy="36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" y="1908000"/>
            <a:ext cx="52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Calibri"/>
              </a:rPr>
              <a:t>lawyers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268000"/>
            <a:ext cx="5400000" cy="3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00" y="2286000"/>
            <a:ext cx="52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Calibri"/>
              </a:rPr>
              <a:t>appointments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2646000"/>
            <a:ext cx="5400000" cy="36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00" y="2664000"/>
            <a:ext cx="52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Calibri"/>
              </a:rPr>
              <a:t>specializations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3024000"/>
            <a:ext cx="5400000" cy="3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00" y="3042000"/>
            <a:ext cx="52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Calibri"/>
              </a:rPr>
              <a:t>availability_slots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1224000"/>
            <a:ext cx="5400000" cy="28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000" y="1224000"/>
            <a:ext cx="54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Cədvəllər (davam)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0000" y="1512000"/>
            <a:ext cx="5400000" cy="3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3999" y="1530000"/>
            <a:ext cx="52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Calibri"/>
              </a:rPr>
              <a:t>chats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0000" y="1890000"/>
            <a:ext cx="5400000" cy="36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3999" y="1908000"/>
            <a:ext cx="52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Calibri"/>
              </a:rPr>
              <a:t>messages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0000" y="2268000"/>
            <a:ext cx="5400000" cy="3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3999" y="2286000"/>
            <a:ext cx="52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Calibri"/>
              </a:rPr>
              <a:t>reviews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0000" y="2646000"/>
            <a:ext cx="5400000" cy="36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3999" y="2664000"/>
            <a:ext cx="52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Calibri"/>
              </a:rPr>
              <a:t>notifications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0000" y="3024000"/>
            <a:ext cx="5400000" cy="3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3999" y="3042000"/>
            <a:ext cx="52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Calibri"/>
              </a:rPr>
              <a:t>otp_codes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2000" y="5688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6B6B"/>
                </a:solidFill>
                <a:latin typeface="Calibri"/>
              </a:rPr>
              <a:t>10 cədvəl  •  Docker Compose  •  EF Core Migrations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" y="324000"/>
            <a:ext cx="125999" cy="396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306000"/>
            <a:ext cx="108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A0A0A"/>
                </a:solidFill>
                <a:latin typeface="Calibri"/>
              </a:rPr>
              <a:t>Nəticələr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80000"/>
            <a:ext cx="2700000" cy="1980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152000"/>
            <a:ext cx="27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2232000"/>
            <a:ext cx="27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Calibri"/>
              </a:rPr>
              <a:t>Platforma
(Web×3 + Mobile)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2000" y="1080000"/>
            <a:ext cx="2700000" cy="1980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2000" y="1152000"/>
            <a:ext cx="27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10+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2000" y="2232000"/>
            <a:ext cx="27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Calibri"/>
              </a:rPr>
              <a:t>Əsas
funksiya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2000" y="1080000"/>
            <a:ext cx="2700000" cy="1980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2000" y="1152000"/>
            <a:ext cx="27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2000" y="2232000"/>
            <a:ext cx="27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Calibri"/>
              </a:rPr>
              <a:t>Dil
dəstəyi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72000" y="1080000"/>
            <a:ext cx="2700000" cy="1980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2000" y="1152000"/>
            <a:ext cx="27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2000" y="2232000"/>
            <a:ext cx="27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Calibri"/>
              </a:rPr>
              <a:t>TypeScript
(Frontend)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80000" y="3600000"/>
            <a:ext cx="3060000" cy="1007999"/>
          </a:xfrm>
          <a:prstGeom prst="rect">
            <a:avLst/>
          </a:prstGeom>
          <a:solidFill>
            <a:srgbClr val="F5F5F5"/>
          </a:solidFill>
          <a:ln w="190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0000" y="3636000"/>
            <a:ext cx="30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alibri"/>
              </a:rPr>
              <a:t>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000" y="3960000"/>
            <a:ext cx="30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A0A"/>
                </a:solidFill>
                <a:latin typeface="Calibri"/>
              </a:rPr>
              <a:t>50+ API endpoint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00000" y="3600000"/>
            <a:ext cx="3060000" cy="1007999"/>
          </a:xfrm>
          <a:prstGeom prst="rect">
            <a:avLst/>
          </a:prstGeom>
          <a:solidFill>
            <a:srgbClr val="F5F5F5"/>
          </a:solidFill>
          <a:ln w="190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0000" y="3636000"/>
            <a:ext cx="30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alibri"/>
              </a:rPr>
              <a:t>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0000" y="3960000"/>
            <a:ext cx="30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A0A"/>
                </a:solidFill>
                <a:latin typeface="Calibri"/>
              </a:rPr>
              <a:t>100+ komponent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20000" y="3600000"/>
            <a:ext cx="3060000" cy="1007999"/>
          </a:xfrm>
          <a:prstGeom prst="rect">
            <a:avLst/>
          </a:prstGeom>
          <a:solidFill>
            <a:srgbClr val="F5F5F5"/>
          </a:solidFill>
          <a:ln w="190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20000" y="3636000"/>
            <a:ext cx="30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alibri"/>
              </a:rPr>
              <a:t>Mobile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0000" y="3960000"/>
            <a:ext cx="30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A0A"/>
                </a:solidFill>
                <a:latin typeface="Calibri"/>
              </a:rPr>
              <a:t>20+ ekran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1980000"/>
            <a:ext cx="1440000" cy="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21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LegalConnect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3348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CCCC"/>
                </a:solidFill>
                <a:latin typeface="Calibri"/>
              </a:rPr>
              <a:t>Azərbaycanda hüquqi xidmətləri rəqəmsallaşdırırıq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4500000"/>
            <a:ext cx="10800000" cy="21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475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Calibri"/>
              </a:rPr>
              <a:t>github.com/bakhtiyarshirinov/LegalConnect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558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Təşəkkür edirik!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